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explaining that this is a proposal and a proof of concept, not a finished production system or a request to replace everything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concrete examples from current practice, but avoid criticizing the people maintaining these systems. The problem is fragmentation, not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master calendar does not mean everyone sees everything. It means one event can safely produce different views for the public, volunteers, leaders, and priests.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invisible permissions: unauthorized users should not even learn that Father has a restricted appointment calendar or that another volunteer has an APR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public event link: it says only that opportunities exist. It does not reveal how many people are missing or which ministry needs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operational heart of the proposal. Balance workload and use preferences, but preserve human judgment. Hard privacy and APR rules remain non-overridable.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describing implementation details. The message is that privacy is structural: public, ministry, APR, and private priest information are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alpha is to test whether eight sacristans and the administrator can use the core reliably. Everything else is deliberately deferred.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 that the dates are targets, not promises. Security, hosting, email, and stakeholder approval are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live POC here. Keep the live demo focused; the PowerPoint has already established the problem and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request for a blank check. It is a request for a controlled test, the webmaster conversation, and access to consenting pilot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specific decision, then invite discussion. If approval is conditional, record the conditions and owners before ending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9"/>
          </a:solidFill>
          <a:ln>
            <a:solidFill>
              <a:srgbClr val="F6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48101A"/>
          </a:solidFill>
          <a:ln>
            <a:solidFill>
              <a:srgbClr val="481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03320" y="0"/>
            <a:ext cx="91440" cy="685800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25296" y="932688"/>
            <a:ext cx="1216152" cy="1216152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932688"/>
            <a:ext cx="1216152" cy="1216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2423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8EECE"/>
                </a:solidFill>
                <a:latin typeface="Aptos"/>
              </a:rPr>
              <a:t>OUR LADY OF VICTORY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1389888"/>
            <a:ext cx="69494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800" b="0" i="0">
                <a:solidFill>
                  <a:srgbClr val="48101A"/>
                </a:solidFill>
                <a:latin typeface="Georgia"/>
              </a:rPr>
              <a:t>Chapel 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2267712"/>
            <a:ext cx="649224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0" i="0">
                <a:solidFill>
                  <a:srgbClr val="23201E"/>
                </a:solidFill>
                <a:latin typeface="Georgia"/>
              </a:rPr>
              <a:t>One coordinated calendar for services, ministries, and communication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5696" y="3246120"/>
            <a:ext cx="6364224" cy="0"/>
          </a:xfrm>
          <a:prstGeom prst="line">
            <a:avLst/>
          </a:prstGeom>
          <a:ln w="2794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07408" y="3547872"/>
            <a:ext cx="6217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F1725"/>
                </a:solidFill>
                <a:latin typeface="Aptos"/>
              </a:rPr>
              <a:t>PLANNING MEETING  ·  AUGUST 8,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4142232"/>
            <a:ext cx="6217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67605B"/>
                </a:solidFill>
                <a:latin typeface="Aptos"/>
              </a:rPr>
              <a:t>Proposal and proof-of-concept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5047488"/>
            <a:ext cx="6309360" cy="7132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5230368"/>
            <a:ext cx="581558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397258"/>
                </a:solidFill>
                <a:latin typeface="Aptos"/>
              </a:rPr>
              <a:t>Goal: simplify chapel administration without sacrificing privacy.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Why change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The chapel is maintaining the same reality in several disconnected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F5E9EB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618488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1848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600200"/>
            <a:ext cx="23865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Fragmented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029968"/>
            <a:ext cx="2386584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Google calendars, Ministry Scheduler Pro, Telegram, spreadsheets, websites, and manual public listings.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4173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F8EECE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6864" y="1618488"/>
            <a:ext cx="420624" cy="420624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61848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600200"/>
            <a:ext cx="23865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B88A35"/>
                </a:solidFill>
                <a:latin typeface="Aptos"/>
              </a:rPr>
              <a:t>Repeated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29968"/>
            <a:ext cx="2386584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The same service or change must be entered more than once—and each copy can drift out of 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4173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AF5EF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85632" y="1618488"/>
            <a:ext cx="420624" cy="420624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61848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1600200"/>
            <a:ext cx="23865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97258"/>
                </a:solidFill>
                <a:latin typeface="Aptos"/>
              </a:rPr>
              <a:t>Low adoption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029968"/>
            <a:ext cx="2386584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Volunteers already use messaging apps. A separate, cumbersome scheduling app is easy to ignore.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" y="3886200"/>
            <a:ext cx="9601200" cy="135331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4187952"/>
            <a:ext cx="8942832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6F1725"/>
                </a:solidFill>
                <a:latin typeface="Aptos"/>
              </a:rPr>
              <a:t>The practical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590288"/>
            <a:ext cx="88696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0" i="0">
                <a:solidFill>
                  <a:srgbClr val="23201E"/>
                </a:solidFill>
                <a:latin typeface="Georgia"/>
              </a:rPr>
              <a:t>More follow-up, more chances for conflict, and less confidence that any one calendar is current.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The proposal: one coordinated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Enter a service once; show each person only what they are authorized to see.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138928" y="1993392"/>
            <a:ext cx="1920240" cy="1920240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993392"/>
            <a:ext cx="1920240" cy="1920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ONE
CALENDAR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64008" cy="1325880"/>
          </a:xfrm>
          <a:prstGeom prst="rect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600200"/>
            <a:ext cx="2697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97258"/>
                </a:solidFill>
                <a:latin typeface="Aptos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26974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Masses, Confessions, Rosary, special services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40" y="2075688"/>
            <a:ext cx="1389888" cy="877824"/>
          </a:xfrm>
          <a:prstGeom prst="line">
            <a:avLst/>
          </a:prstGeom>
          <a:ln w="2159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406908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069080"/>
            <a:ext cx="64008" cy="1325880"/>
          </a:xfrm>
          <a:prstGeom prst="rect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251960"/>
            <a:ext cx="2697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Volunteers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681728"/>
            <a:ext cx="26974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Assignments, openings, preferences, substitutes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749040" y="2953512"/>
            <a:ext cx="1389888" cy="1773936"/>
          </a:xfrm>
          <a:prstGeom prst="line">
            <a:avLst/>
          </a:prstGeom>
          <a:ln w="2159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12480" y="141732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1417320"/>
            <a:ext cx="64008" cy="1325880"/>
          </a:xfrm>
          <a:prstGeom prst="rect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1" y="1600200"/>
            <a:ext cx="2697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Leaders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1" y="2029968"/>
            <a:ext cx="26974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Drafts, shortages, qualifications, confirmations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059168" y="2075688"/>
            <a:ext cx="1353312" cy="877824"/>
          </a:xfrm>
          <a:prstGeom prst="line">
            <a:avLst/>
          </a:prstGeom>
          <a:ln w="2159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0" y="4069080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4069080"/>
            <a:ext cx="64008" cy="1325880"/>
          </a:xfrm>
          <a:prstGeom prst="rect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1" y="4251960"/>
            <a:ext cx="2697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Priests &amp; delegates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1" y="4681728"/>
            <a:ext cx="26974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Celebrants, private availability, protected appointments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059168" y="2953512"/>
            <a:ext cx="1353312" cy="1773936"/>
          </a:xfrm>
          <a:prstGeom prst="line">
            <a:avLst/>
          </a:prstGeom>
          <a:ln w="2159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87952" y="4892040"/>
            <a:ext cx="384048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B88A35"/>
                </a:solidFill>
                <a:latin typeface="Aptos"/>
              </a:rPr>
              <a:t>Permissioned views—not separate calendars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Simple for each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The system becomes more useful after sign-in without becoming more revealing.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10652760" cy="859536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417320"/>
            <a:ext cx="91440" cy="859536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600200"/>
            <a:ext cx="2011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88A35"/>
                </a:solidFill>
                <a:latin typeface="Aptos"/>
              </a:rPr>
              <a:t>PUBLIC VISITOR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5536" y="1600200"/>
            <a:ext cx="1280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7605B"/>
                </a:solidFill>
                <a:latin typeface="Aptos"/>
              </a:rPr>
              <a:t>No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63550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201E"/>
                </a:solidFill>
                <a:latin typeface="Aptos"/>
              </a:rPr>
              <a:t>Mass times and public service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560320"/>
            <a:ext cx="10652760" cy="859536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560320"/>
            <a:ext cx="91440" cy="859536"/>
          </a:xfrm>
          <a:prstGeom prst="rect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0"/>
            <a:ext cx="2011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397258"/>
                </a:solidFill>
                <a:latin typeface="Aptos"/>
              </a:rPr>
              <a:t>ACCOUNT HOLDER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743200"/>
            <a:ext cx="1280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7605B"/>
                </a:solidFill>
                <a:latin typeface="Aptos"/>
              </a:rPr>
              <a:t>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97479"/>
            <a:ext cx="63550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201E"/>
                </a:solidFill>
                <a:latin typeface="Aptos"/>
              </a:rPr>
              <a:t>Chosen alerts and visible ways to help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03320"/>
            <a:ext cx="10652760" cy="859536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703320"/>
            <a:ext cx="91440" cy="859536"/>
          </a:xfrm>
          <a:prstGeom prst="rect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886200"/>
            <a:ext cx="2011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F1725"/>
                </a:solidFill>
                <a:latin typeface="Aptos"/>
              </a:rPr>
              <a:t>VOLUNTEER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886200"/>
            <a:ext cx="1280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7605B"/>
                </a:solidFill>
                <a:latin typeface="Aptos"/>
              </a:rPr>
              <a:t>Approved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40480"/>
            <a:ext cx="63550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201E"/>
                </a:solidFill>
                <a:latin typeface="Aptos"/>
              </a:rPr>
              <a:t>Relevant assignments, openings, and instructions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846320"/>
            <a:ext cx="10652760" cy="859536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4846320"/>
            <a:ext cx="91440" cy="859536"/>
          </a:xfrm>
          <a:prstGeom prst="rect">
            <a:avLst/>
          </a:prstGeom>
          <a:solidFill>
            <a:srgbClr val="48101A"/>
          </a:solidFill>
          <a:ln>
            <a:solidFill>
              <a:srgbClr val="481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2011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8101A"/>
                </a:solidFill>
                <a:latin typeface="Aptos"/>
              </a:rPr>
              <a:t>LEADER /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5029200"/>
            <a:ext cx="1280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7605B"/>
                </a:solidFill>
                <a:latin typeface="Aptos"/>
              </a:rPr>
              <a:t>Authorized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983480"/>
            <a:ext cx="63550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201E"/>
                </a:solidFill>
                <a:latin typeface="Aptos"/>
              </a:rPr>
              <a:t>Scheduling, exceptions, and oversight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016752"/>
            <a:ext cx="98755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6F1725"/>
                </a:solidFill>
                <a:latin typeface="Aptos"/>
              </a:rPr>
              <a:t>Private calendars and APR details are invisible—not merely shown as locked tabs.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Make participation easy—but always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The public calendar can become the front door to communication and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1399032"/>
            <a:ext cx="658368" cy="658368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399032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1728216"/>
            <a:ext cx="1234440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2267712"/>
            <a:ext cx="234086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48101A"/>
                </a:solidFill>
                <a:latin typeface="Aptos"/>
              </a:rPr>
              <a:t>Check the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60904"/>
            <a:ext cx="23408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No account required</a:t>
            </a:r>
          </a:p>
        </p:txBody>
      </p:sp>
      <p:sp>
        <p:nvSpPr>
          <p:cNvPr id="12" name="Oval 11"/>
          <p:cNvSpPr/>
          <p:nvPr/>
        </p:nvSpPr>
        <p:spPr>
          <a:xfrm>
            <a:off x="4325112" y="1399032"/>
            <a:ext cx="658368" cy="658368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399032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3480" y="1728216"/>
            <a:ext cx="1234440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720" y="2267712"/>
            <a:ext cx="234086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48101A"/>
                </a:solidFill>
                <a:latin typeface="Aptos"/>
              </a:rPr>
              <a:t>Choose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60904"/>
            <a:ext cx="23408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Every category opt-in</a:t>
            </a:r>
          </a:p>
        </p:txBody>
      </p:sp>
      <p:sp>
        <p:nvSpPr>
          <p:cNvPr id="17" name="Oval 16"/>
          <p:cNvSpPr/>
          <p:nvPr/>
        </p:nvSpPr>
        <p:spPr>
          <a:xfrm>
            <a:off x="7232904" y="1399032"/>
            <a:ext cx="658368" cy="658368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1399032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91272" y="1728216"/>
            <a:ext cx="1234440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82512" y="2267712"/>
            <a:ext cx="234086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48101A"/>
                </a:solidFill>
                <a:latin typeface="Aptos"/>
              </a:rPr>
              <a:t>See ways to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660904"/>
            <a:ext cx="23408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No commitment</a:t>
            </a:r>
          </a:p>
        </p:txBody>
      </p:sp>
      <p:sp>
        <p:nvSpPr>
          <p:cNvPr id="22" name="Oval 21"/>
          <p:cNvSpPr/>
          <p:nvPr/>
        </p:nvSpPr>
        <p:spPr>
          <a:xfrm>
            <a:off x="10140696" y="1399032"/>
            <a:ext cx="658368" cy="658368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0696" y="1399032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267712"/>
            <a:ext cx="234086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48101A"/>
                </a:solidFill>
                <a:latin typeface="Aptos"/>
              </a:rPr>
              <a:t>Leader follows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660904"/>
            <a:ext cx="23408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One-time or ongoing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3685032"/>
            <a:ext cx="10131552" cy="1389888"/>
          </a:xfrm>
          <a:prstGeom prst="roundRect">
            <a:avLst>
              <a:gd name="adj" fmla="val 8000"/>
            </a:avLst>
          </a:prstGeom>
          <a:solidFill>
            <a:srgbClr val="EAF5EF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9888" y="3950208"/>
            <a:ext cx="941832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397258"/>
                </a:solidFill>
                <a:latin typeface="Aptos"/>
              </a:rPr>
              <a:t>Examples people would see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407408"/>
            <a:ext cx="94183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0" i="0">
                <a:solidFill>
                  <a:srgbClr val="23201E"/>
                </a:solidFill>
                <a:latin typeface="Georgia"/>
              </a:rPr>
              <a:t>Liturgical ministries  ·  League cleaning and meals  ·  Maintenance  · 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5413248"/>
            <a:ext cx="8321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6F1725"/>
                </a:solidFill>
                <a:latin typeface="Aptos"/>
              </a:rPr>
              <a:t>A name is requested only when someone offers to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Less chasing; more predictable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Automation proposes. Authorized leaders remain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039112" cy="190195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1444752"/>
            <a:ext cx="603504" cy="60350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444752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48840"/>
            <a:ext cx="172821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8101A"/>
                </a:solidFill>
                <a:latin typeface="Aptos"/>
              </a:rPr>
              <a:t>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1636776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When people usually can serve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4872" y="2779776"/>
            <a:ext cx="292607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24912" y="1828800"/>
            <a:ext cx="2039112" cy="190195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1444752"/>
            <a:ext cx="603504" cy="603504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1444752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148840"/>
            <a:ext cx="172821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8101A"/>
                </a:solidFill>
                <a:latin typeface="Aptos"/>
              </a:rPr>
              <a:t>Balanced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97480"/>
            <a:ext cx="1636776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Qualifications, workload, and conflicts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64024" y="2779776"/>
            <a:ext cx="292607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84064" y="1828800"/>
            <a:ext cx="2039112" cy="190195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7296" y="1444752"/>
            <a:ext cx="603504" cy="60350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1444752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2148840"/>
            <a:ext cx="172821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8101A"/>
                </a:solidFill>
                <a:latin typeface="Aptos"/>
              </a:rPr>
              <a:t>Leader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2697480"/>
            <a:ext cx="1636776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Shortages and overrides stay visible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23176" y="2779776"/>
            <a:ext cx="292607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43216" y="1828800"/>
            <a:ext cx="2039112" cy="190195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56448" y="1444752"/>
            <a:ext cx="603504" cy="603504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1444752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664" y="2148840"/>
            <a:ext cx="172821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8101A"/>
                </a:solidFill>
                <a:latin typeface="Aptos"/>
              </a:rPr>
              <a:t>Confirm &amp; remind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697480"/>
            <a:ext cx="1636776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Email first; Telegram can follow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2779776"/>
            <a:ext cx="292608" cy="0"/>
          </a:xfrm>
          <a:prstGeom prst="line">
            <a:avLst/>
          </a:prstGeom>
          <a:ln w="2540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8" y="1828800"/>
            <a:ext cx="2039112" cy="190195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1444752"/>
            <a:ext cx="603504" cy="60350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1444752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2148840"/>
            <a:ext cx="172821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8101A"/>
                </a:solidFill>
                <a:latin typeface="Aptos"/>
              </a:rPr>
              <a:t>Substitute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697480"/>
            <a:ext cx="1636776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67605B"/>
                </a:solidFill>
                <a:latin typeface="Aptos"/>
              </a:rPr>
              <a:t>Qualified people, private requests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5568" y="4370832"/>
            <a:ext cx="9948672" cy="960120"/>
          </a:xfrm>
          <a:prstGeom prst="roundRect">
            <a:avLst>
              <a:gd name="adj" fmla="val 8000"/>
            </a:avLst>
          </a:prstGeom>
          <a:solidFill>
            <a:srgbClr val="F5E9EB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81328" y="4626864"/>
            <a:ext cx="9217152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6F1725"/>
                </a:solidFill>
                <a:latin typeface="Aptos"/>
              </a:rPr>
              <a:t>The leader can always correct the draft; privacy and APR eligibility cannot be overridden.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Privacy first—by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Collect less, separate permissions, and avoid exposing sensitive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5276088" cy="17190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36776"/>
            <a:ext cx="530352" cy="530352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600200"/>
            <a:ext cx="38862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8101A"/>
                </a:solidFill>
                <a:latin typeface="Aptos"/>
              </a:rPr>
              <a:t>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075688"/>
            <a:ext cx="3931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Services and public liturgical details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505456"/>
            <a:ext cx="3931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7605B"/>
                </a:solidFill>
                <a:latin typeface="Aptos"/>
              </a:rPr>
              <a:t>No volunteer names or staffing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89888"/>
            <a:ext cx="5276088" cy="17190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636776"/>
            <a:ext cx="530352" cy="530352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36776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1600200"/>
            <a:ext cx="38862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8101A"/>
                </a:solidFill>
                <a:latin typeface="Aptos"/>
              </a:rPr>
              <a:t>Minors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075688"/>
            <a:ext cx="3931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Birth year rather than full birth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2505456"/>
            <a:ext cx="3931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7605B"/>
                </a:solidFill>
                <a:latin typeface="Aptos"/>
              </a:rPr>
              <a:t>Guardian visibility and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02736"/>
            <a:ext cx="5276088" cy="17190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849624"/>
            <a:ext cx="530352" cy="530352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49624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3813048"/>
            <a:ext cx="38862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8101A"/>
                </a:solidFill>
                <a:latin typeface="Aptos"/>
              </a:rPr>
              <a:t>APR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288536"/>
            <a:ext cx="3931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Eligibility metadata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4718304"/>
            <a:ext cx="3931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7605B"/>
                </a:solidFill>
                <a:latin typeface="Aptos"/>
              </a:rPr>
              <a:t>No reports, reasons, or signed forms by default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02736"/>
            <a:ext cx="5276088" cy="17190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3849624"/>
            <a:ext cx="530352" cy="530352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49624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3813048"/>
            <a:ext cx="38862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8101A"/>
                </a:solidFill>
                <a:latin typeface="Aptos"/>
              </a:rPr>
              <a:t>Father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4288536"/>
            <a:ext cx="3931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3201E"/>
                </a:solidFill>
                <a:latin typeface="Aptos"/>
              </a:rPr>
              <a:t>Private details for approved delegates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4718304"/>
            <a:ext cx="3931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7605B"/>
                </a:solidFill>
                <a:latin typeface="Aptos"/>
              </a:rPr>
              <a:t>Others see only unavailable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870448"/>
            <a:ext cx="96012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6F1725"/>
                </a:solidFill>
                <a:latin typeface="Aptos"/>
              </a:rPr>
              <a:t>Convenience never grants broader access than a person's actual responsibility.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Start small: the sacristan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A private, reversible test before normal chapel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413248" cy="4315968"/>
          </a:xfrm>
          <a:prstGeom prst="roundRect">
            <a:avLst>
              <a:gd name="adj" fmla="val 8000"/>
            </a:avLst>
          </a:prstGeom>
          <a:solidFill>
            <a:srgbClr val="EAF5EF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55064"/>
            <a:ext cx="47365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397258"/>
                </a:solidFill>
                <a:latin typeface="Aptos"/>
              </a:rPr>
              <a:t>IN THE ALPHA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4709160" cy="29992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Public service calendar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Secure sacristan accounts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Preferences, absences, and balanced drafts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Confirmations, reminders, and substitutes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Administrator editing, printing, and history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Email notifications and tested backups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353312"/>
            <a:ext cx="5157216" cy="4315968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655064"/>
            <a:ext cx="446227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F1725"/>
                </a:solidFill>
                <a:latin typeface="Aptos"/>
              </a:rPr>
              <a:t>NOT REQUIRED FOR ALPHA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212848"/>
            <a:ext cx="4443984" cy="29992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Replacing every existing calendar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Altar servers, ushers, or other ministries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Advanced APR document workflows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Website and public-feed integration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SMS or full Telegram automation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01E"/>
                </a:solidFill>
                <a:latin typeface="Aptos"/>
              </a:defRPr>
            </a:pPr>
            <a:r>
              <a:t>•  Multiple chapels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Phased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Each stage earns the next one through actual use and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2880360"/>
            <a:ext cx="9921240" cy="0"/>
          </a:xfrm>
          <a:prstGeom prst="line">
            <a:avLst/>
          </a:prstGeom>
          <a:ln w="50800">
            <a:solidFill>
              <a:srgbClr val="DDD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2578608"/>
            <a:ext cx="603504" cy="60350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65960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F1725"/>
                </a:solidFill>
                <a:latin typeface="Aptos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01568"/>
            <a:ext cx="1755648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3201E"/>
                </a:solidFill>
                <a:latin typeface="Aptos"/>
              </a:rPr>
              <a:t>Design + POC</a:t>
            </a:r>
          </a:p>
        </p:txBody>
      </p:sp>
      <p:sp>
        <p:nvSpPr>
          <p:cNvPr id="12" name="Oval 11"/>
          <p:cNvSpPr/>
          <p:nvPr/>
        </p:nvSpPr>
        <p:spPr>
          <a:xfrm>
            <a:off x="3310128" y="2578608"/>
            <a:ext cx="603504" cy="603504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578608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1965960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88A35"/>
                </a:solidFill>
                <a:latin typeface="Aptos"/>
              </a:rPr>
              <a:t>AUG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3401568"/>
            <a:ext cx="1755648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3201E"/>
                </a:solidFill>
                <a:latin typeface="Aptos"/>
              </a:rPr>
              <a:t>Stakeholder decision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2578608"/>
            <a:ext cx="603504" cy="603504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578608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1965960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397258"/>
                </a:solidFill>
                <a:latin typeface="Aptos"/>
              </a:rPr>
              <a:t>EARLY SEP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401568"/>
            <a:ext cx="1755648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3201E"/>
                </a:solidFill>
                <a:latin typeface="Aptos"/>
              </a:rPr>
              <a:t>Private sacristan alpha</a:t>
            </a:r>
          </a:p>
        </p:txBody>
      </p:sp>
      <p:sp>
        <p:nvSpPr>
          <p:cNvPr id="20" name="Oval 19"/>
          <p:cNvSpPr/>
          <p:nvPr/>
        </p:nvSpPr>
        <p:spPr>
          <a:xfrm>
            <a:off x="8119872" y="2578608"/>
            <a:ext cx="603504" cy="60350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2578608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965960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F1725"/>
                </a:solidFill>
                <a:latin typeface="Aptos"/>
              </a:rPr>
              <a:t>LATE OCT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401568"/>
            <a:ext cx="1755648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3201E"/>
                </a:solidFill>
                <a:latin typeface="Aptos"/>
              </a:rPr>
              <a:t>Servers + ushers pilots</a:t>
            </a:r>
          </a:p>
        </p:txBody>
      </p:sp>
      <p:sp>
        <p:nvSpPr>
          <p:cNvPr id="24" name="Oval 23"/>
          <p:cNvSpPr/>
          <p:nvPr/>
        </p:nvSpPr>
        <p:spPr>
          <a:xfrm>
            <a:off x="10149840" y="2578608"/>
            <a:ext cx="603504" cy="603504"/>
          </a:xfrm>
          <a:prstGeom prst="ellipse">
            <a:avLst/>
          </a:prstGeom>
          <a:solidFill>
            <a:srgbClr val="48101A"/>
          </a:solidFill>
          <a:ln>
            <a:solidFill>
              <a:srgbClr val="481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578608"/>
            <a:ext cx="60350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7" y="1965960"/>
            <a:ext cx="12984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48101A"/>
                </a:solidFill>
                <a:latin typeface="Aptos"/>
              </a:rPr>
              <a:t>ADVENT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3401568"/>
            <a:ext cx="1755648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3201E"/>
                </a:solidFill>
                <a:latin typeface="Aptos"/>
              </a:rPr>
              <a:t>Normal use if validated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4736592"/>
            <a:ext cx="9326880" cy="841248"/>
          </a:xfrm>
          <a:prstGeom prst="roundRect">
            <a:avLst>
              <a:gd name="adj" fmla="val 8000"/>
            </a:avLst>
          </a:prstGeom>
          <a:solidFill>
            <a:srgbClr val="F8EECE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55648" y="4983480"/>
            <a:ext cx="8650224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48101A"/>
                </a:solidFill>
                <a:latin typeface="Aptos"/>
              </a:rPr>
              <a:t>Later: broader ministries, website feeds, priest coordination, and additional 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What the proof of concept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A visual test of workflows and permissions—not production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53312"/>
            <a:ext cx="3456432" cy="16276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420624" cy="420624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250545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97258"/>
                </a:solidFill>
                <a:latin typeface="Aptos"/>
              </a:rPr>
              <a:t>Public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2505456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3201E"/>
                </a:solidFill>
                <a:latin typeface="Aptos"/>
              </a:rPr>
              <a:t>Services, Confessions, Rosary, and celebrant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1353312"/>
            <a:ext cx="3456432" cy="16276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1" y="1554480"/>
            <a:ext cx="420624" cy="420624"/>
          </a:xfrm>
          <a:prstGeom prst="ellipse">
            <a:avLst/>
          </a:prstGeom>
          <a:solidFill>
            <a:srgbClr val="397258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155448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536192"/>
            <a:ext cx="250545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97258"/>
                </a:solidFill>
                <a:latin typeface="Aptos"/>
              </a:rPr>
              <a:t>Optional signup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1965960"/>
            <a:ext cx="2505456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3201E"/>
                </a:solidFill>
                <a:latin typeface="Aptos"/>
              </a:rPr>
              <a:t>Notification choices and visible ways to volunteer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353312"/>
            <a:ext cx="3456432" cy="16276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1554480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55448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536192"/>
            <a:ext cx="250545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Ministry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965960"/>
            <a:ext cx="2505456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3201E"/>
                </a:solidFill>
                <a:latin typeface="Aptos"/>
              </a:rPr>
              <a:t>Openings, confirmations, preferences, and substitutes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410712"/>
            <a:ext cx="3456432" cy="16276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3611880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93592"/>
            <a:ext cx="250545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Telegram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2505456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3201E"/>
                </a:solidFill>
                <a:latin typeface="Aptos"/>
              </a:rPr>
              <a:t>Ministry group versus private bot interaction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3983" y="3410712"/>
            <a:ext cx="3456432" cy="16276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45151" y="3611880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1" y="361188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3593592"/>
            <a:ext cx="250545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Leader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4023360"/>
            <a:ext cx="2505456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3201E"/>
                </a:solidFill>
                <a:latin typeface="Aptos"/>
              </a:rPr>
              <a:t>Balanced draft, shortages, and overrides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5" y="3410712"/>
            <a:ext cx="3456432" cy="162763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67344" y="3611880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361188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4" y="3593592"/>
            <a:ext cx="250545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Private calendar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4023360"/>
            <a:ext cx="2505456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3201E"/>
                </a:solidFill>
                <a:latin typeface="Aptos"/>
              </a:rPr>
              <a:t>Father's authorized weekly view and protected fields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84448" y="5559552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03904" y="5715000"/>
            <a:ext cx="459028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LIVE DEMONSTRATION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1097280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900" b="0" i="0">
                <a:solidFill>
                  <a:srgbClr val="48101A"/>
                </a:solidFill>
                <a:latin typeface="Georgia"/>
              </a:rPr>
              <a:t>What is needed to reach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59536"/>
            <a:ext cx="10607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7605B"/>
                </a:solidFill>
                <a:latin typeface="Aptos"/>
              </a:rPr>
              <a:t>The technical work depends on a few timely decisions and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01384"/>
            <a:ext cx="5212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7605B"/>
                </a:solidFill>
                <a:latin typeface="Aptos"/>
              </a:rPr>
              <a:t>CHAPEL SCHEDULER  ·  AUGUST 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48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7605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5138928" cy="1572768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45920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27632"/>
            <a:ext cx="4187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4187952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Approve a private sacristan alpha and its permission 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44752"/>
            <a:ext cx="5138928" cy="1572768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1645920"/>
            <a:ext cx="420624" cy="420624"/>
          </a:xfrm>
          <a:prstGeom prst="ellipse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627632"/>
            <a:ext cx="4187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B88A35"/>
                </a:solidFill>
                <a:latin typeface="Aptos"/>
              </a:rPr>
              <a:t>Webmaster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057400"/>
            <a:ext cx="4187952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Hosting, subdomain, authenticated email, backups, and support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74720"/>
            <a:ext cx="5138928" cy="1572768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675888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7600"/>
            <a:ext cx="4187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Pilot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87368"/>
            <a:ext cx="4187952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Eight consenting sacristans, roles, preferences, and known absences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474720"/>
            <a:ext cx="5138928" cy="1572768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D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675888"/>
            <a:ext cx="420624" cy="420624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67588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57600"/>
            <a:ext cx="418795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F1725"/>
                </a:solidFill>
                <a:latin typeface="Aptos"/>
              </a:rPr>
              <a:t>Administrator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87368"/>
            <a:ext cx="4187952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201E"/>
                </a:solidFill>
                <a:latin typeface="Aptos"/>
              </a:rPr>
              <a:t>Service exceptions, test sessions, and rapid feedback during August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5614416"/>
            <a:ext cx="9509760" cy="566928"/>
          </a:xfrm>
          <a:prstGeom prst="roundRect">
            <a:avLst>
              <a:gd name="adj" fmla="val 8000"/>
            </a:avLst>
          </a:prstGeom>
          <a:solidFill>
            <a:srgbClr val="EAF5EF"/>
          </a:solidFill>
          <a:ln>
            <a:solidFill>
              <a:srgbClr val="397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5751576"/>
            <a:ext cx="8906256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397258"/>
                </a:solidFill>
                <a:latin typeface="Aptos"/>
              </a:rPr>
              <a:t>Current scheduling remains available throughout the alpha as a fallback.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8101A"/>
          </a:solidFill>
          <a:ln>
            <a:solidFill>
              <a:srgbClr val="481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B88A35"/>
          </a:solidFill>
          <a:ln>
            <a:solidFill>
              <a:srgbClr val="B8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59552" y="713232"/>
            <a:ext cx="1051560" cy="1051560"/>
          </a:xfrm>
          <a:prstGeom prst="ellipse">
            <a:avLst/>
          </a:prstGeom>
          <a:solidFill>
            <a:srgbClr val="6F1725"/>
          </a:solidFill>
          <a:ln>
            <a:solidFill>
              <a:srgbClr val="6F1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59552" y="713232"/>
            <a:ext cx="105156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990295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Georgia"/>
              </a:rPr>
              <a:t>The decision requested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834640"/>
            <a:ext cx="9528048" cy="9326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F8EECE"/>
                </a:solidFill>
                <a:latin typeface="Georgia"/>
              </a:rPr>
              <a:t>Authorize preparation of a private sacristan alpha—subject to webmaster, privacy, and security readiness.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2" y="4096512"/>
            <a:ext cx="6373368" cy="0"/>
          </a:xfrm>
          <a:prstGeom prst="line">
            <a:avLst/>
          </a:prstGeom>
          <a:ln w="27940">
            <a:solidFill>
              <a:srgbClr val="B88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27632" y="4480560"/>
            <a:ext cx="8942832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eorgia"/>
              </a:rPr>
              <a:t>One chapel calendar. Less duplicate work. Easier participation.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5623560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8EECE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Chapel Scheduler — August 8, 2026 Planning Meeting</dc:title>
  <dc:subject>High-level proposal and private alpha plan</dc:subject>
  <dc:creator>Our Lady of Victory Chapel</dc:creator>
  <cp:keywords>Chapel Scheduler, scheduling, sacristans, alpha, privacy</cp:keywords>
  <dc:description>Prepared from the Chapel Scheduler consolidated architecture and proof of concept.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